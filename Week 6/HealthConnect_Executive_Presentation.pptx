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5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6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Patients</c:v>
                </c:pt>
              </c:strCache>
            </c:strRef>
          </c:tx>
          <c:spPr>
            <a:solidFill>
              <a:srgbClr val="0B5D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30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Western</c:v>
                  </c:pt>
                  <c:pt idx="1">
                    <c:v>Eastern</c:v>
                  </c:pt>
                  <c:pt idx="2">
                    <c:v>Southern</c:v>
                  </c:pt>
                  <c:pt idx="3">
                    <c:v>Kigali City</c:v>
                  </c:pt>
                  <c:pt idx="4">
                    <c:v>Northern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4091</c:v>
                </c:pt>
                <c:pt idx="1">
                  <c:v>4067</c:v>
                </c:pt>
                <c:pt idx="2">
                  <c:v>3967</c:v>
                </c:pt>
                <c:pt idx="3">
                  <c:v>3952</c:v>
                </c:pt>
                <c:pt idx="4">
                  <c:v>3923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230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230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3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C757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Share of cases (%)</c:v>
                </c:pt>
              </c:strCache>
            </c:strRef>
          </c:tx>
          <c:spPr>
            <a:solidFill>
              <a:srgbClr val="1F8A8A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30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Gastritis</c:v>
                  </c:pt>
                  <c:pt idx="1">
                    <c:v>Diabetes</c:v>
                  </c:pt>
                  <c:pt idx="2">
                    <c:v>Hypertension</c:v>
                  </c:pt>
                  <c:pt idx="3">
                    <c:v>Malaria</c:v>
                  </c:pt>
                  <c:pt idx="4">
                    <c:v>Upper Resp. Infection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20.35</c:v>
                </c:pt>
                <c:pt idx="1">
                  <c:v>20.14</c:v>
                </c:pt>
                <c:pt idx="2">
                  <c:v>20.12</c:v>
                </c:pt>
                <c:pt idx="3">
                  <c:v>19.8</c:v>
                </c:pt>
                <c:pt idx="4">
                  <c:v>19.59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000" u="none">
                  <a:solidFill>
                    <a:srgbClr val="1230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230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"/>
          <c:min val="0"/>
        </c:scaling>
        <c:delete val="0"/>
        <c:axPos val="b"/>
        <c:majorGridlines>
          <c:spPr>
            <a:ln w="6350" cap="flat">
              <a:solidFill>
                <a:srgbClr val="E3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C757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Staff</c:v>
                </c:pt>
              </c:strCache>
            </c:strRef>
          </c:tx>
          <c:spPr>
            <a:solidFill>
              <a:srgbClr val="0B5D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30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Nurses</c:v>
                  </c:pt>
                  <c:pt idx="1">
                    <c:v>Doctors</c:v>
                  </c:pt>
                  <c:pt idx="2">
                    <c:v>Administrative</c:v>
                  </c:pt>
                  <c:pt idx="3">
                    <c:v>Pharmacists</c:v>
                  </c:pt>
                  <c:pt idx="4">
                    <c:v>Lab scientists</c:v>
                  </c:pt>
                  <c:pt idx="5">
                    <c:v>Radiographers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700</c:v>
                </c:pt>
                <c:pt idx="1">
                  <c:v>350</c:v>
                </c:pt>
                <c:pt idx="2">
                  <c:v>80</c:v>
                </c:pt>
                <c:pt idx="3">
                  <c:v>50</c:v>
                </c:pt>
                <c:pt idx="4">
                  <c:v>40</c:v>
                </c:pt>
                <c:pt idx="5">
                  <c:v>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230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230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b"/>
        <c:majorGridlines>
          <c:spPr>
            <a:ln w="6350" cap="flat">
              <a:solidFill>
                <a:srgbClr val="E3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C757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RWF bn</c:v>
                </c:pt>
              </c:strCache>
            </c:strRef>
          </c:tx>
          <c:spPr>
            <a:solidFill>
              <a:srgbClr val="0B5D5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30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B5D5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8A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Billed</c:v>
                  </c:pt>
                  <c:pt idx="1">
                    <c:v>Collected</c:v>
                  </c:pt>
                  <c:pt idx="2">
                    <c:v>Outstanding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9.31</c:v>
                </c:pt>
                <c:pt idx="1">
                  <c:v>8.39</c:v>
                </c:pt>
                <c:pt idx="2">
                  <c:v>0.92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230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230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C757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Claimed value (RWF bn)</c:v>
                </c:pt>
              </c:strCache>
            </c:strRef>
          </c:tx>
          <c:spPr>
            <a:solidFill>
              <a:srgbClr val="0B5D5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30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Radiant</c:v>
                  </c:pt>
                  <c:pt idx="1">
                    <c:v>Private</c:v>
                  </c:pt>
                  <c:pt idx="2">
                    <c:v>RSSB</c:v>
                  </c:pt>
                  <c:pt idx="3">
                    <c:v>MMI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1.24</c:v>
                </c:pt>
                <c:pt idx="1">
                  <c:v>1.22</c:v>
                </c:pt>
                <c:pt idx="2">
                  <c:v>1.21</c:v>
                </c:pt>
                <c:pt idx="3">
                  <c:v>1.21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230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230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C757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Ratings</c:v>
                </c:pt>
              </c:strCache>
            </c:strRef>
          </c:tx>
          <c:spPr>
            <a:solidFill>
              <a:srgbClr val="E4572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2303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4572E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A54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8A8A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B5D5E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1 star</c:v>
                  </c:pt>
                  <c:pt idx="1">
                    <c:v>2 stars</c:v>
                  </c:pt>
                  <c:pt idx="2">
                    <c:v>3 stars</c:v>
                  </c:pt>
                  <c:pt idx="3">
                    <c:v>4 stars</c:v>
                  </c:pt>
                  <c:pt idx="4">
                    <c:v>5 stars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4245</c:v>
                </c:pt>
                <c:pt idx="1">
                  <c:v>4273</c:v>
                </c:pt>
                <c:pt idx="2">
                  <c:v>4202</c:v>
                </c:pt>
                <c:pt idx="3">
                  <c:v>4195</c:v>
                </c:pt>
                <c:pt idx="4">
                  <c:v>4149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2303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2303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E3E8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C757D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project: I analysed HealthConnect Rwanda data to show management where care, operations and money can improve.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answer. Four numbers: patients, collection, chronic burden, satisfaction. Then the three messages: money, claims, system-wide patterns.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pipeline briefly. Stress that 44 of 44 checks passed and that every SQL result was recomputed in Python.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upfront: these gaps are why some answers are marked low confidence. They are also recommendations for data improvement.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Provinces differ by under 5%. The chronic rate ranges 73.5% to 76.2%, a small effect. The burden is national.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Severity is also even (33.3% severe). No diagnosis is growing month to month (p = 0.32).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facility has 61 to 64 staff. In the sample, appointments per staff member range 3.5 to 4.6. The difference is suggestive (p = 0.052).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Collection is 90.1%. The billing status label is unreliable, so outstanding must be computed from amounts.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21,028 of 42,036 claims are pending, worth RWF 2.44bn. Providers are within 2% of each other, so no provider dominates.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Facility averages run 2.76 to 3.19 but the differences are not statistically meaningful (p = 0.80). Treat it as a system-wide issue.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 through quickly. Highlight that several answers are no clear difference, which is a finding in itself, and note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Order by value and ease. Actions 1 and 2 recover money and need no new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by stating limits plainly, then the data requests that would turn low-confidence answers into firm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0B5D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828032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HealthConnect Rwanda | Data Analytics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3716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HealthConnect Rwanda</a:t>
            </a:r>
            <a:endParaRPr lang="en-US" sz="4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94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F3F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Healthcare Operations and Performance Analytics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40080" y="2880360"/>
            <a:ext cx="1097280" cy="54864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1089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presentation | Data Analytics Track | Week 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Mercy Chepkemoi Koech | AnalystLab Africa Experience Lab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RWF 919.9M is uncollected, and no single hospital stands out as the problem</a:t>
            </a:r>
            <a:endParaRPr lang="en-US" sz="2200" dirty="0"/>
          </a:p>
        </p:txBody>
      </p:sp>
      <p:sp>
        <p:nvSpPr>
          <p:cNvPr id="4" name="stat card"/>
          <p:cNvSpPr/>
          <p:nvPr/>
        </p:nvSpPr>
        <p:spPr>
          <a:xfrm>
            <a:off x="457200" y="1143000"/>
            <a:ext cx="1920240" cy="914400"/>
          </a:xfrm>
          <a:prstGeom prst="rect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2161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20,000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7099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patients, 60,000 billed visits</a:t>
            </a:r>
            <a:endParaRPr lang="en-US" sz="1050" dirty="0"/>
          </a:p>
        </p:txBody>
      </p:sp>
      <p:sp>
        <p:nvSpPr>
          <p:cNvPr id="7" name="stat card"/>
          <p:cNvSpPr/>
          <p:nvPr/>
        </p:nvSpPr>
        <p:spPr>
          <a:xfrm>
            <a:off x="2514600" y="1143000"/>
            <a:ext cx="1920240" cy="914400"/>
          </a:xfrm>
          <a:prstGeom prst="rect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606040" y="12161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90.1%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2606040" y="17099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collected: RWF 8.39bn of 9.31bn</a:t>
            </a:r>
            <a:endParaRPr lang="en-US" sz="1050" dirty="0"/>
          </a:p>
        </p:txBody>
      </p:sp>
      <p:sp>
        <p:nvSpPr>
          <p:cNvPr id="10" name="stat card"/>
          <p:cNvSpPr/>
          <p:nvPr/>
        </p:nvSpPr>
        <p:spPr>
          <a:xfrm>
            <a:off x="4572000" y="1143000"/>
            <a:ext cx="1920240" cy="914400"/>
          </a:xfrm>
          <a:prstGeom prst="rect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63440" y="121615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74.6%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4663440" y="17099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patients have a chronic condition</a:t>
            </a:r>
            <a:endParaRPr lang="en-US" sz="1050" dirty="0"/>
          </a:p>
        </p:txBody>
      </p:sp>
      <p:sp>
        <p:nvSpPr>
          <p:cNvPr id="13" name="stat card"/>
          <p:cNvSpPr/>
          <p:nvPr/>
        </p:nvSpPr>
        <p:spPr>
          <a:xfrm>
            <a:off x="6629400" y="1143000"/>
            <a:ext cx="2057400" cy="914400"/>
          </a:xfrm>
          <a:prstGeom prst="rect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20840" y="1216152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2.99 / 5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6720840" y="1709928"/>
            <a:ext cx="1874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satisfaction; 40.4% poor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242316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Money: 19.8% of bills are short-paid, and 4,042 bills marked "Paid" still carry RWF 311.2M.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Claims: 50% of insurance claims (RWF 2.44bn) are pending and none is rejected.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Patterns: staffing, diagnoses and provinces are nearly uniform, so the issues are system-wide, not one site.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27 datasets to one validated database and a six-page dashboard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57200" y="1371600"/>
            <a:ext cx="1920240" cy="2011680"/>
          </a:xfrm>
          <a:prstGeom prst="rect">
            <a:avLst/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94360" y="1508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 Load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20574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tables into PostgreSQL 18 with exact column types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2560320" y="1371600"/>
            <a:ext cx="1920240" cy="2011680"/>
          </a:xfrm>
          <a:prstGeom prst="rect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697480" y="1508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  Validate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2697480" y="20574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 of 44 row-count and total checks pass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663440" y="1371600"/>
            <a:ext cx="1920240" cy="2011680"/>
          </a:xfrm>
          <a:prstGeom prst="rect">
            <a:avLst/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800600" y="1508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 Analyse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4800600" y="20574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SQL questions, each recomputed in Python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766560" y="1371600"/>
            <a:ext cx="1920240" cy="2011680"/>
          </a:xfrm>
          <a:prstGeom prst="rect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903720" y="15087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5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 Visualise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903720" y="2057400"/>
            <a:ext cx="1645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BI: 6 pages, 30+ DAX measures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3749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Differences are reported as findings only when they exceed random variation (chi-square and Kruskal-Wallis tests).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data gaps shape what the numbers can claim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4023360" cy="1463040"/>
          </a:xfrm>
          <a:prstGeom prst="rect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40080" y="1325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Appointments: 5,000 of 60,000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7830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91.7% of bills cannot be linked to a facility, department, doctor or date.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663440" y="1188720"/>
            <a:ext cx="4023360" cy="1463040"/>
          </a:xfrm>
          <a:prstGeom prst="rect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846320" y="13258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facility master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846320" y="17830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are IDs only (HF001 to HF020): no names, type or location.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7200" y="2834640"/>
            <a:ext cx="4023360" cy="1463040"/>
          </a:xfrm>
          <a:prstGeom prst="rect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" y="2971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Revenue does not reconcile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429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RWF 9.31bn, payments 8.39bn, revenue summary only 1.13bn.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63440" y="2834640"/>
            <a:ext cx="4023360" cy="1463040"/>
          </a:xfrm>
          <a:prstGeom prst="rect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846320" y="2971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Missing outcomes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342900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rejected claims, bed occupancy, equipment status or cost data.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Patients are spread evenly across provinces, and three in four are chronic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49377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card"/>
          <p:cNvSpPr/>
          <p:nvPr/>
        </p:nvSpPr>
        <p:spPr>
          <a:xfrm>
            <a:off x="5669280" y="1143000"/>
            <a:ext cx="3017520" cy="914400"/>
          </a:xfrm>
          <a:prstGeom prst="rect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760720" y="12161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74.6%</a:t>
            </a:r>
            <a:endParaRPr lang="en-US" sz="2400" dirty="0"/>
          </a:p>
        </p:txBody>
      </p:sp>
      <p:sp>
        <p:nvSpPr>
          <p:cNvPr id="7" name="Text 3"/>
          <p:cNvSpPr txBox="1"/>
          <p:nvPr/>
        </p:nvSpPr>
        <p:spPr>
          <a:xfrm>
            <a:off x="5760720" y="17099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a chronic condition (Asthma, Hypertension, Diabetes at about 25% each)</a:t>
            </a:r>
            <a:endParaRPr lang="en-US" sz="1050" dirty="0"/>
          </a:p>
        </p:txBody>
      </p:sp>
      <p:sp>
        <p:nvSpPr>
          <p:cNvPr id="8" name="stat card"/>
          <p:cNvSpPr/>
          <p:nvPr/>
        </p:nvSpPr>
        <p:spPr>
          <a:xfrm>
            <a:off x="5669280" y="2194560"/>
            <a:ext cx="3017520" cy="914400"/>
          </a:xfrm>
          <a:prstGeom prst="rect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760720" y="22677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27.4%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5760720" y="27614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over 65 (5,487 patients)</a:t>
            </a:r>
            <a:endParaRPr lang="en-US" sz="1050" dirty="0"/>
          </a:p>
        </p:txBody>
      </p:sp>
      <p:sp>
        <p:nvSpPr>
          <p:cNvPr id="11" name="stat card"/>
          <p:cNvSpPr/>
          <p:nvPr/>
        </p:nvSpPr>
        <p:spPr>
          <a:xfrm>
            <a:off x="5669280" y="3246120"/>
            <a:ext cx="3017520" cy="914400"/>
          </a:xfrm>
          <a:prstGeom prst="rect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760720" y="331927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45.0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5760720" y="381304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age; 50.5% male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clinical mix is even: five diagnoses at about 20% each, and no trend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49377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card"/>
          <p:cNvSpPr/>
          <p:nvPr/>
        </p:nvSpPr>
        <p:spPr>
          <a:xfrm>
            <a:off x="5669280" y="1143000"/>
            <a:ext cx="1463040" cy="914400"/>
          </a:xfrm>
          <a:prstGeom prst="rect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760720" y="12161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33.3%</a:t>
            </a:r>
            <a:endParaRPr lang="en-US" sz="2400" dirty="0"/>
          </a:p>
        </p:txBody>
      </p:sp>
      <p:sp>
        <p:nvSpPr>
          <p:cNvPr id="7" name="Text 3"/>
          <p:cNvSpPr txBox="1"/>
          <p:nvPr/>
        </p:nvSpPr>
        <p:spPr>
          <a:xfrm>
            <a:off x="5760720" y="17099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 cases</a:t>
            </a:r>
            <a:endParaRPr lang="en-US" sz="1050" dirty="0"/>
          </a:p>
        </p:txBody>
      </p:sp>
      <p:sp>
        <p:nvSpPr>
          <p:cNvPr id="8" name="stat card"/>
          <p:cNvSpPr/>
          <p:nvPr/>
        </p:nvSpPr>
        <p:spPr>
          <a:xfrm>
            <a:off x="7223760" y="1143000"/>
            <a:ext cx="1463040" cy="914400"/>
          </a:xfrm>
          <a:prstGeom prst="rect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15200" y="12161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8.3%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7315200" y="17099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admission rate</a:t>
            </a:r>
            <a:endParaRPr lang="en-US" sz="1050" dirty="0"/>
          </a:p>
        </p:txBody>
      </p:sp>
      <p:sp>
        <p:nvSpPr>
          <p:cNvPr id="11" name="stat card"/>
          <p:cNvSpPr/>
          <p:nvPr/>
        </p:nvSpPr>
        <p:spPr>
          <a:xfrm>
            <a:off x="5669280" y="2194560"/>
            <a:ext cx="1463040" cy="914400"/>
          </a:xfrm>
          <a:prstGeom prst="rect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760720" y="226771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5.49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5760720" y="276148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average stay</a:t>
            </a:r>
            <a:endParaRPr lang="en-US" sz="1050" dirty="0"/>
          </a:p>
        </p:txBody>
      </p:sp>
      <p:sp>
        <p:nvSpPr>
          <p:cNvPr id="14" name="stat card"/>
          <p:cNvSpPr/>
          <p:nvPr/>
        </p:nvSpPr>
        <p:spPr>
          <a:xfrm>
            <a:off x="7223760" y="2194560"/>
            <a:ext cx="1463040" cy="914400"/>
          </a:xfrm>
          <a:prstGeom prst="rect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15200" y="226771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7.85%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7315200" y="276148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rate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5669280" y="32918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services for all five conditions in similar proportion. Dates exist for only 5,000 diagnoses, so trends need fuller data.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Staffing is uniform, but demand per facility varies by about 30%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49377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card"/>
          <p:cNvSpPr/>
          <p:nvPr/>
        </p:nvSpPr>
        <p:spPr>
          <a:xfrm>
            <a:off x="5669280" y="1143000"/>
            <a:ext cx="1463040" cy="914400"/>
          </a:xfrm>
          <a:prstGeom prst="rect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760720" y="12161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1,250</a:t>
            </a:r>
            <a:endParaRPr lang="en-US" sz="2400" dirty="0"/>
          </a:p>
        </p:txBody>
      </p:sp>
      <p:sp>
        <p:nvSpPr>
          <p:cNvPr id="7" name="Text 3"/>
          <p:cNvSpPr txBox="1"/>
          <p:nvPr/>
        </p:nvSpPr>
        <p:spPr>
          <a:xfrm>
            <a:off x="5760720" y="17099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staff, 20 facilities</a:t>
            </a:r>
            <a:endParaRPr lang="en-US" sz="1050" dirty="0"/>
          </a:p>
        </p:txBody>
      </p:sp>
      <p:sp>
        <p:nvSpPr>
          <p:cNvPr id="8" name="stat card"/>
          <p:cNvSpPr/>
          <p:nvPr/>
        </p:nvSpPr>
        <p:spPr>
          <a:xfrm>
            <a:off x="7223760" y="1143000"/>
            <a:ext cx="1463040" cy="914400"/>
          </a:xfrm>
          <a:prstGeom prst="rect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15200" y="12161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62.5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7315200" y="170992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per 1,000 patients</a:t>
            </a:r>
            <a:endParaRPr lang="en-US" sz="1050" dirty="0"/>
          </a:p>
        </p:txBody>
      </p:sp>
      <p:sp>
        <p:nvSpPr>
          <p:cNvPr id="11" name="stat card"/>
          <p:cNvSpPr/>
          <p:nvPr/>
        </p:nvSpPr>
        <p:spPr>
          <a:xfrm>
            <a:off x="5669280" y="2194560"/>
            <a:ext cx="1463040" cy="914400"/>
          </a:xfrm>
          <a:prstGeom prst="rect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760720" y="226771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33.0%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5760720" y="276148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visits are emergency</a:t>
            </a:r>
            <a:endParaRPr lang="en-US" sz="1050" dirty="0"/>
          </a:p>
        </p:txBody>
      </p:sp>
      <p:sp>
        <p:nvSpPr>
          <p:cNvPr id="14" name="stat card"/>
          <p:cNvSpPr/>
          <p:nvPr/>
        </p:nvSpPr>
        <p:spPr>
          <a:xfrm>
            <a:off x="7223760" y="2194560"/>
            <a:ext cx="1463040" cy="914400"/>
          </a:xfrm>
          <a:prstGeom prst="rect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315200" y="226771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3.8%</a:t>
            </a:r>
            <a:endParaRPr lang="en-US" sz="2400" dirty="0"/>
          </a:p>
        </p:txBody>
      </p:sp>
      <p:sp>
        <p:nvSpPr>
          <p:cNvPr id="16" name="Text 12"/>
          <p:cNvSpPr txBox="1"/>
          <p:nvPr/>
        </p:nvSpPr>
        <p:spPr>
          <a:xfrm>
            <a:off x="7315200" y="2761488"/>
            <a:ext cx="1280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bed use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5669280" y="32918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beds are all marked Available. Bed use is estimated from admissions (27,438 bed-days of 730,000), so expansion cannot be justified yet.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RWF 919.9M is outstanding, and "Paid" bills still carry RWF 311.2M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45720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card"/>
          <p:cNvSpPr/>
          <p:nvPr/>
        </p:nvSpPr>
        <p:spPr>
          <a:xfrm>
            <a:off x="5394960" y="1143000"/>
            <a:ext cx="3291840" cy="914400"/>
          </a:xfrm>
          <a:prstGeom prst="rect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486400" y="12161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11,887</a:t>
            </a:r>
            <a:endParaRPr lang="en-US" sz="2400" dirty="0"/>
          </a:p>
        </p:txBody>
      </p:sp>
      <p:sp>
        <p:nvSpPr>
          <p:cNvPr id="7" name="Text 3"/>
          <p:cNvSpPr txBox="1"/>
          <p:nvPr/>
        </p:nvSpPr>
        <p:spPr>
          <a:xfrm>
            <a:off x="5486400" y="17099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(19.8%) paid short; average shortfall RWF 77,391</a:t>
            </a:r>
            <a:endParaRPr lang="en-US" sz="1050" dirty="0"/>
          </a:p>
        </p:txBody>
      </p:sp>
      <p:sp>
        <p:nvSpPr>
          <p:cNvPr id="8" name="stat card"/>
          <p:cNvSpPr/>
          <p:nvPr/>
        </p:nvSpPr>
        <p:spPr>
          <a:xfrm>
            <a:off x="5394960" y="2194560"/>
            <a:ext cx="3291840" cy="914400"/>
          </a:xfrm>
          <a:prstGeom prst="rect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0" y="22677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4,042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0" y="276148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bills marked "Paid" still have balances (RWF 311.2M)</a:t>
            </a:r>
            <a:endParaRPr lang="en-US" sz="1050" dirty="0"/>
          </a:p>
        </p:txBody>
      </p:sp>
      <p:sp>
        <p:nvSpPr>
          <p:cNvPr id="11" name="stat card"/>
          <p:cNvSpPr/>
          <p:nvPr/>
        </p:nvSpPr>
        <p:spPr>
          <a:xfrm>
            <a:off x="5394960" y="3246120"/>
            <a:ext cx="3291840" cy="914400"/>
          </a:xfrm>
          <a:prstGeom prst="rect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0" y="33192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0" y="38130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value per payment method: card, cash, insurance, mobile money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Half of insurance claims are pending, and none are rejected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45720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card"/>
          <p:cNvSpPr/>
          <p:nvPr/>
        </p:nvSpPr>
        <p:spPr>
          <a:xfrm>
            <a:off x="5394960" y="1143000"/>
            <a:ext cx="3291840" cy="914400"/>
          </a:xfrm>
          <a:prstGeom prst="rect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486400" y="121615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70.1%</a:t>
            </a:r>
            <a:endParaRPr lang="en-US" sz="2400" dirty="0"/>
          </a:p>
        </p:txBody>
      </p:sp>
      <p:sp>
        <p:nvSpPr>
          <p:cNvPr id="7" name="Text 3"/>
          <p:cNvSpPr txBox="1"/>
          <p:nvPr/>
        </p:nvSpPr>
        <p:spPr>
          <a:xfrm>
            <a:off x="5486400" y="170992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bills have an insurance claim</a:t>
            </a:r>
            <a:endParaRPr lang="en-US" sz="1050" dirty="0"/>
          </a:p>
        </p:txBody>
      </p:sp>
      <p:sp>
        <p:nvSpPr>
          <p:cNvPr id="8" name="stat card"/>
          <p:cNvSpPr/>
          <p:nvPr/>
        </p:nvSpPr>
        <p:spPr>
          <a:xfrm>
            <a:off x="5394960" y="2194560"/>
            <a:ext cx="3291840" cy="914400"/>
          </a:xfrm>
          <a:prstGeom prst="rect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486400" y="226771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RWF 2.44bn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0" y="276148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pending claims (50.0%)</a:t>
            </a:r>
            <a:endParaRPr lang="en-US" sz="1050" dirty="0"/>
          </a:p>
        </p:txBody>
      </p:sp>
      <p:sp>
        <p:nvSpPr>
          <p:cNvPr id="11" name="stat card"/>
          <p:cNvSpPr/>
          <p:nvPr/>
        </p:nvSpPr>
        <p:spPr>
          <a:xfrm>
            <a:off x="5394960" y="3246120"/>
            <a:ext cx="3291840" cy="914400"/>
          </a:xfrm>
          <a:prstGeom prst="rect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486400" y="3319272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2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0" y="381304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marked Rejected: tracking gap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Satisfaction is low everywhere: 40% of ratings are poor, 20% excellent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097280"/>
          <a:ext cx="493776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tat card"/>
          <p:cNvSpPr/>
          <p:nvPr/>
        </p:nvSpPr>
        <p:spPr>
          <a:xfrm>
            <a:off x="5669280" y="1143000"/>
            <a:ext cx="3017520" cy="914400"/>
          </a:xfrm>
          <a:prstGeom prst="rect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6" name="Text 2"/>
          <p:cNvSpPr txBox="1"/>
          <p:nvPr/>
        </p:nvSpPr>
        <p:spPr>
          <a:xfrm>
            <a:off x="5760720" y="12161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5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2.99 / 5</a:t>
            </a:r>
            <a:endParaRPr lang="en-US" sz="2400" dirty="0"/>
          </a:p>
        </p:txBody>
      </p:sp>
      <p:sp>
        <p:nvSpPr>
          <p:cNvPr id="7" name="Text 3"/>
          <p:cNvSpPr txBox="1"/>
          <p:nvPr/>
        </p:nvSpPr>
        <p:spPr>
          <a:xfrm>
            <a:off x="5760720" y="170992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across 21,064 ratings</a:t>
            </a:r>
            <a:endParaRPr lang="en-US" sz="1050" dirty="0"/>
          </a:p>
        </p:txBody>
      </p:sp>
      <p:sp>
        <p:nvSpPr>
          <p:cNvPr id="8" name="stat card"/>
          <p:cNvSpPr/>
          <p:nvPr/>
        </p:nvSpPr>
        <p:spPr>
          <a:xfrm>
            <a:off x="5669280" y="2194560"/>
            <a:ext cx="3017520" cy="914400"/>
          </a:xfrm>
          <a:prstGeom prst="rect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760720" y="226771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40.4% vs 19.7%</a:t>
            </a:r>
            <a:endParaRPr lang="en-US" sz="2400" dirty="0"/>
          </a:p>
        </p:txBody>
      </p:sp>
      <p:sp>
        <p:nvSpPr>
          <p:cNvPr id="10" name="Text 6"/>
          <p:cNvSpPr txBox="1"/>
          <p:nvPr/>
        </p:nvSpPr>
        <p:spPr>
          <a:xfrm>
            <a:off x="5760720" y="276148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(1 to 2) versus excellent (5)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5669280" y="3291840"/>
            <a:ext cx="3017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1,756 ratings link to a facility. Feedback comments do not match star ratings, so ratings are used.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Answers to the ten business questions</a:t>
            </a:r>
            <a:endParaRPr lang="en-US" sz="2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5212080"/>
                <a:gridCol w="1188720"/>
              </a:tblGrid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D5E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patients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HF013, HF014, HF010 (sample); small spread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Greatest dept workload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Cardiology 544, Radiology 525; not significant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Diseases rising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None: five at about 20%, no monthly trend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efficient?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Uniform staff, demand varies 30%: review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insurer revenue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Radiant RWF 1.24bn; all within 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satisfaction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HF011 (3.19); not significant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expansion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evidence: bed use about 3.8%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Cut costs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cost data; recover RWF 919.9M, clear claims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Services by revenue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Visit types equal; Cardiology top dept (sample)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Regions to invest 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stands out; chronic 73.5% to 76.2%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230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8F7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 priority actions for management</a:t>
            </a:r>
            <a:endParaRPr lang="en-US" sz="22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Recover cash</a:t>
            </a:r>
            <a:endParaRPr lang="en-US" sz="1450" dirty="0"/>
          </a:p>
        </p:txBody>
      </p:sp>
      <p:sp>
        <p:nvSpPr>
          <p:cNvPr id="7" name="Text 4"/>
          <p:cNvSpPr txBox="1"/>
          <p:nvPr/>
        </p:nvSpPr>
        <p:spPr>
          <a:xfrm>
            <a:off x="1097280" y="144475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up 11,887 short-paid bills; compute balances from amounts; block "Paid" when under-paid.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502920" cy="502920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63440" y="1188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5303520" y="10972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Clear claims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5303520" y="144475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21,028 pending claims; add Rejected status; reconcile with insurer payments.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57200" y="2377440"/>
            <a:ext cx="502920" cy="50292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572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097280" y="2286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Chronic care</a:t>
            </a:r>
            <a:endParaRPr lang="en-US" sz="1450" dirty="0"/>
          </a:p>
        </p:txBody>
      </p:sp>
      <p:sp>
        <p:nvSpPr>
          <p:cNvPr id="15" name="Text 12"/>
          <p:cNvSpPr txBox="1"/>
          <p:nvPr/>
        </p:nvSpPr>
        <p:spPr>
          <a:xfrm>
            <a:off x="1097280" y="263347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chronic-disease and elderly-care programme in every province.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663440" y="2377440"/>
            <a:ext cx="502920" cy="50292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66344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0" y="22860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Match staff to demand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5303520" y="263347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staffing against full appointment volumes; emergency cover first.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457200" y="3566160"/>
            <a:ext cx="502920" cy="50292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45720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1097280" y="3474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Lift service quality</a:t>
            </a:r>
            <a:endParaRPr lang="en-US" sz="1450" dirty="0"/>
          </a:p>
        </p:txBody>
      </p:sp>
      <p:sp>
        <p:nvSpPr>
          <p:cNvPr id="23" name="Text 20"/>
          <p:cNvSpPr txBox="1"/>
          <p:nvPr/>
        </p:nvSpPr>
        <p:spPr>
          <a:xfrm>
            <a:off x="1097280" y="382219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System-wide programme; record the reason for every low rating.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663440" y="3566160"/>
            <a:ext cx="502920" cy="502920"/>
          </a:xfrm>
          <a:prstGeom prst="ellipse">
            <a:avLst/>
          </a:prstGeom>
          <a:solidFill>
            <a:srgbClr val="0B5D5E"/>
          </a:solidFill>
          <a:ln w="12700">
            <a:solidFill>
              <a:srgbClr val="0B5D5E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663440" y="3566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5303520" y="34747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 the data</a:t>
            </a:r>
            <a:endParaRPr lang="en-US" sz="1450" dirty="0"/>
          </a:p>
        </p:txBody>
      </p:sp>
      <p:sp>
        <p:nvSpPr>
          <p:cNvPr id="27" name="Text 24"/>
          <p:cNvSpPr txBox="1"/>
          <p:nvPr/>
        </p:nvSpPr>
        <p:spPr>
          <a:xfrm>
            <a:off x="5303520" y="3822192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appointment tables, facility master, bed occupancy, claim rejections, costs.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1230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this analysis can and cannot show, and next steps</a:t>
            </a:r>
            <a:endParaRPr lang="en-US" sz="22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5D5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show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508760"/>
            <a:ext cx="38404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gaps, claim backlog and status errors in billing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profile, chronic burden and ageing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Whether differences between sites are real or random</a:t>
            </a:r>
            <a:endParaRPr lang="en-US" sz="1300" dirty="0"/>
          </a:p>
        </p:txBody>
      </p:sp>
      <p:sp>
        <p:nvSpPr>
          <p:cNvPr id="6" name="Text 3"/>
          <p:cNvSpPr txBox="1"/>
          <p:nvPr/>
        </p:nvSpPr>
        <p:spPr>
          <a:xfrm>
            <a:off x="4663440" y="10972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457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Cannot show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663440" y="150876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Facility or region performance for the 91.7% of bills with no appointment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Causes, costs or true bed occupancy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Disease trends over time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57200" y="3657600"/>
            <a:ext cx="8229600" cy="868680"/>
          </a:xfrm>
          <a:prstGeom prst="rect">
            <a:avLst/>
          </a:prstGeom>
          <a:solidFill>
            <a:srgbClr val="E8F3F2"/>
          </a:solidFill>
          <a:ln w="12700">
            <a:solidFill>
              <a:srgbClr val="E8F3F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0080" y="37033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steps: load the full appointment tables and an official facility master, refresh the dashboard, and re-test the findings. Thank you.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28032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C75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althConnect">
  <a:themeElements>
    <a:clrScheme name="HealthConnect">
      <a:dk1>
        <a:srgbClr val="12303A"/>
      </a:dk1>
      <a:lt1>
        <a:srgbClr val="FFFFFF"/>
      </a:lt1>
      <a:dk2>
        <a:srgbClr val="0B5D5E"/>
      </a:dk2>
      <a:lt2>
        <a:srgbClr val="E8F3F2"/>
      </a:lt2>
      <a:accent1>
        <a:srgbClr val="0B5D5E"/>
      </a:accent1>
      <a:accent2>
        <a:srgbClr val="E4572E"/>
      </a:accent2>
      <a:accent3>
        <a:srgbClr val="1F8A8A"/>
      </a:accent3>
      <a:accent4>
        <a:srgbClr val="F2A541"/>
      </a:accent4>
      <a:accent5>
        <a:srgbClr val="6C757D"/>
      </a:accent5>
      <a:accent6>
        <a:srgbClr val="7FB7B2"/>
      </a:accent6>
      <a:hlink>
        <a:srgbClr val="0B5D5E"/>
      </a:hlink>
      <a:folHlink>
        <a:srgbClr val="6C757D"/>
      </a:folHlink>
    </a:clrScheme>
    <a:fontScheme name="HealthConnect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HealthConnect Rwanda: Business Insights</dc:title>
  <dc:subject>PptxGenJS Presentation</dc:subject>
  <dc:creator>Mercy Chepkemoi Koech</dc:creator>
  <cp:lastModifiedBy>Mercy Chepkemoi Koech</cp:lastModifiedBy>
  <cp:revision>1</cp:revision>
  <dcterms:created xsi:type="dcterms:W3CDTF">2026-10-25T14:23:25Z</dcterms:created>
  <dcterms:modified xsi:type="dcterms:W3CDTF">2026-10-25T14:23:25Z</dcterms:modified>
</cp:coreProperties>
</file>